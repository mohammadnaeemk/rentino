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سلام و معرفی کوتاه اعضا. در ۲۰ ثانیه بگویید رنتینو چیست و ارائه در چهار بخش است: مسئله و بازار، نیازها، راهکار فنی، برنامه و تقسیم کار.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ترتیب ارائه را تثبیت کنید. اگر زمان کم شد، بخش ۳ و ۴ را کوتاه کنید و روی RACI و تقسیم کار وقت بگذارید.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تأکید کنید مسئله «نبود کالا» نیست. سه اصطکاک را نام ببرید: پراکندگی، مذاکرۀ خارج از پلتفرم، نبود مسیر خسارت.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سه ستون را از راست به چپ توضیح دهید: تقاضا، عرضه، اعتماد. بگویید آگهی‌گاه‌ها ستون اول را دارند، ستون دوم را نصفه، و ستون سوم را ندارند.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بگویید فاز اول یک سند تصمیم‌گیری است، نه ادعای محصول کامل. ستون وضعیت را صادقانه بخوانید.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هیچ عددی روی اسلاید نیست. اگر استاد عدد خواست، بگویید در جدول ۵-۱ گزارش شاخص‌های رسمی آمده و اعداد این سه کارت پس از گردآوری پر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ستون آخر را بخوانید: رنتینو تنها ستونی است که هر سه ردیف تقویم، رزرو و پرداخت را با هم دارد. برای صداقت بگویید پرداخت در MVP شبیه‌سازی‌شده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بگویید نیازها از سفر مشتری و شکاف رقبا استنتاج شده‌اند، نه از پرسش‌نامه. پرسش‌نامه برای اعتبارسنجی همین نیازهاست.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اسلاید روش است، نه نتیجه. اگر پرسش‌نامه هنوز اجرا نشده، همین را صریح بگویید و به اسلاید بعد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صادقانه بگویید داده هنوز گردآوری نشده. سه قاب خالی را نشان دهید و بگویید چه چیزی در آن‌ها قرار می‌گیرد. این بهتر از عدد ساختگی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هر فرصت را به یک ریسک وصل کنید. بگویید فرصت بدون پاسخ عملیاتی به چالش تبدیل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R-01 و R-02 بحرانی‌اند. بگویید هر ریسک یک مالک مشخص دارد و در جلسۀ هفتگی بررسی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اگر پرسیدند چند مورد پیاده‌سازی شده، عدد دقیق ندهید مگر از جدول‌های فصل ۹ خوانده باشید. برچسب وضعیت در گزارش هست.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نسخه‌ها از فایل قفل و طرح‌واره خوانده شده‌اند. بگویید انتخاب‌ها با دلیل در جدول ۱۰-۴ آمده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از راست به چپ: مرورگر، API، داده. بگویید مرز اعتماد در API است و هیچ کلید سروری به کلاینت نمی‌رود.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مسیر بحرانی را نام ببرید: تجمیع نیازمندی‌ها، یکپارچه‌سازی و QA هیچ شناوری ندارند. بافر دو روزه آخر را جدی بگیرید.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هر فعالیت دقیقاً یک A دارد. سرگروه پاسخ‌گوی نهایی است اما اجرای کارها توزیع شده. روی سطرهای نیازمندی‌ها و یکپارچه‌سازی مکث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اسلاید پاسخ «چه کسی چه کاری می‌کند» است. اگر پرسیدند چرا داده ندارید، بگویید گردآوری از ۲۶ مهر آغاز و در ۲۹ مهر بسته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سه پیام را آرام بخوانید، سپس از استاد و کلاس برای پرسش دعوت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61320" y="1417320"/>
            <a:ext cx="91440" cy="3840480"/>
          </a:xfrm>
          <a:prstGeom prst="rect">
            <a:avLst/>
          </a:prstGeom>
          <a:solidFill>
            <a:srgbClr val="C4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9326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1F4E79"/>
                </a:solidFill>
                <a:latin typeface="B Nazanin"/>
              </a:rPr>
              <a:t>رنتینو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9326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A7F7A"/>
                </a:solidFill>
                <a:latin typeface="B Nazanin"/>
              </a:rPr>
              <a:t>بازارگاه آنلاین اجارۀ کالاهای قابل حمل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9326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2C33"/>
                </a:solidFill>
                <a:latin typeface="B Nazanin"/>
              </a:rPr>
              <a:t>گزارش فاز اول پروژۀ درس مهندسی نرم‌افزار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9326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B"/>
                </a:solidFill>
                <a:latin typeface="B Nazanin"/>
              </a:rPr>
              <a:t>دانشگاه اصفهان - دانشکدۀ مهندسی کامپیوتر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251960"/>
            <a:ext cx="9326880" cy="18288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93268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42C33"/>
                </a:solidFill>
                <a:latin typeface="B Nazanin"/>
              </a:rPr>
              <a:t>محمد نعیم کریم‌زاده، معین نوری، محمد سجاد حسین جعفرپور،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2C33"/>
                </a:solidFill>
                <a:latin typeface="B Nazanin"/>
              </a:rPr>
              <a:t>امیرحسین ترک، امیررضا زارع، ارشیا احمدی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B"/>
                </a:solidFill>
                <a:latin typeface="B Nazanin"/>
              </a:rPr>
              <a:t>تاریخ تهیه: ۲۶ مهر ۱۴۰۵    |    تاریخ ارائه: ۵ آبان ۱۴۰۵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مقدمه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دستور جلسه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81328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۱. صورت مسئله و ایدۀ راه‌حل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۳ دقیقه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57432" y="1591056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19" y="1481328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۲. اهداف فاز اول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۲ دقیقه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591056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596896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۳. بازار و رقبا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۳ دقیقه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2706624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19" y="2596896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۴. نیازهای بازار و روش نیازسنجی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۳ دقیقه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5312" y="2706624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712464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۵. یافته‌های نیازسنجی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۳ دقیقه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57432" y="3822192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19" y="3712464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۶. فرصت‌ها، ریسک‌ها و نیازمندی‌ها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۳ دقیقه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3822192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4828032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۷. فناوری و معماری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۲ دقیقه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57432" y="4937760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19" y="4828032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۸. زمان‌بندی، RACI و تقسیم کار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۴ دقیقه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4937760"/>
            <a:ext cx="64008" cy="694944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B Nazanin"/>
              </a:rPr>
              <a:t>مدت کل: حدود ۲۰ تا ۲۵ دقیقه، بدون احتساب پرسش و پاسخ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بخش ۱-۲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مسئله: هزینۀ مبادله و ریسک اعتماد، نه کمبود عرضه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42C33"/>
                </a:solidFill>
                <a:latin typeface="B Nazanin"/>
              </a:rPr>
              <a:t>- کالای قابل اجاره و متقاضی هر دو وجود دارند، اما در سایت‌های نیازمندی و شبکه‌های اجتماعی پراکنده‌اند.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42C33"/>
                </a:solidFill>
                <a:latin typeface="B Nazanin"/>
              </a:rPr>
              <a:t>- قیمت و دسترس‌پذیری دستی مقایسه می‌شود و پرداخت و ودیعه بیرون از پلتفرم انجام می‌گیرد.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42C33"/>
                </a:solidFill>
                <a:latin typeface="B Nazanin"/>
              </a:rPr>
              <a:t>- در صورت خسارت یا لغو، مسیر رسمی حل اختلاف وجود ندارد و ریسک به دو طرف منتقل می‌شود.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42C33"/>
                </a:solidFill>
                <a:latin typeface="B Nazanin"/>
              </a:rPr>
              <a:t>- نتیجۀ این وضعیت: نرخ تبدیل پایین، تکرار تماس و مذاکره، و تجربۀ ناخوشایند برای هر دو سمت بازار.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جای آمار: اندازۀ مسئله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پس از گردآوری داده: درصد کاربران آگهی‌گاه برای اجاره،
میانگین زمان یافتن کالا، نرخ معاملات خارج از پلتفرم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53492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این اسلاید عمداً بدون عدد ارائه می‌شود. هر عددی که در آن باشد باید در فصل ۵ یا فصل ۷ گزارش قابل ردیابی باشد.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بخش ۱-۳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ایدۀ راه‌حل: یک معاملۀ کامل، نه یک آگهی دیگر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81328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A7F7A"/>
                </a:solidFill>
                <a:latin typeface="B Nazanin"/>
              </a:rPr>
              <a:t>سمت تقاضا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جست‌وجو و فیلتر دسته، شهر و قیمت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تقویم دسترس‌پذیری واقعی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رزرو آنلاین با کنترل تداخل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پرداخت و رسید در یک مسیر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31752" y="1609344"/>
            <a:ext cx="64008" cy="2990087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481328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B Nazanin"/>
              </a:rPr>
              <a:t>سمت عرضه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ثبت کالا در چند دقیقه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پنل مدیریت کالا و تقویم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مدیریت درخواست و سفارش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مشاهدۀ درآمد و ودیعه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1609344"/>
            <a:ext cx="64008" cy="2990087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8A12"/>
                </a:solidFill>
                <a:latin typeface="B Nazanin"/>
              </a:rPr>
              <a:t>هستۀ اعتماد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احراز هویت پایه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ودیعه و ثبت وضعیت کالا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نظرات دوطرفه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مسیر شکایت و خسارت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2231" y="1609344"/>
            <a:ext cx="64008" cy="2990087"/>
          </a:xfrm>
          <a:prstGeom prst="rect">
            <a:avLst/>
          </a:prstGeom>
          <a:solidFill>
            <a:srgbClr val="C4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10835640" cy="960120"/>
          </a:xfrm>
          <a:prstGeom prst="roundRect">
            <a:avLst>
              <a:gd name="adj" fmla="val 6000"/>
            </a:avLst>
          </a:prstGeom>
          <a:solidFill>
            <a:srgbClr val="E8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6B4F"/>
                </a:solidFill>
                <a:latin typeface="B Nazanin"/>
              </a:rPr>
              <a:t>دامنۀ MVP: چرخۀ کامل معامله از ثبت کالا تا بازگشت. ودیعۀ واقعی، پرداخت بانکی و تأیید هویت کامل، برنامه‌ریزی‌شده برای فاز بعد هستند.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۲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اهداف فاز اول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63040"/>
          <a:ext cx="10835638" cy="3566160"/>
        </p:xfrm>
        <a:graphic>
          <a:graphicData uri="http://schemas.openxmlformats.org/drawingml/2006/table">
            <a:tbl>
              <a:tblPr firstRow="1" rtl="1">
                <a:tableStyleId>{5C22544A-7EE6-4342-B048-85BDC9FD1C3A}</a:tableStyleId>
              </a:tblPr>
              <a:tblGrid>
                <a:gridCol w="3305788"/>
                <a:gridCol w="4591372"/>
                <a:gridCol w="2938478"/>
              </a:tblGrid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 Nazanin"/>
                        </a:rPr>
                        <a:t>هدف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 Nazanin"/>
                        </a:rPr>
                        <a:t>معیار سنجش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 Nazanin"/>
                        </a:rPr>
                        <a:t>خروجی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تعریف شفاف مسئله و بازار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سند با منبع معتبر برای هر ادعا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فصل ۵ و 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استخراج نیاز بازار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نیازهای دسته‌بندی‌شده با شناسه و اولویت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۳۸ نیاز در ۴ دسته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تبیین نیازمندی‌ها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نیازمندی کارکردی با شناسه و معیار پذیرش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۵۸ FR در ۹ گروه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تعیین فناوری و معماری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پشته و لایه‌ها با دلیل انتخاب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فصل ۱۰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برنامۀ اجرایی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WBS، مسیر بحرانی، RACI و بافر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42C33"/>
                          </a:solidFill>
                          <a:latin typeface="B Nazanin"/>
                        </a:rPr>
                        <a:t>فصل ۱۱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349240"/>
            <a:ext cx="10835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B"/>
                </a:solidFill>
                <a:latin typeface="B Nazanin"/>
              </a:rPr>
              <a:t>معیار موفقیت فاز اول: سند بتواند بدون حضور نویسنده، تصمیم فاز دوم را پشتیبانی کند. تکمیل محصول، معیار این فاز نیست.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۵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بازار: زیرساخت آماده است، سه گلوگاه عملیاتی مانده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10835640" cy="5486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سه شاخصی که برای انتخاب شهر اول و دستۀ ورودی لازم است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488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اندازۀ بازار اجارۀ کالا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منبع پیشنهادی: جدول ۵-۱ و آمار رسمی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488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سهم متقاضیان آنلاین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منبع پیشنهادی: نتایج پرسش‌نامه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79" y="21488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میانگین ارزش هر معامله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منبع پیشنهادی: مصاحبه با ارائه‌دهندگان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6070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3"/>
                </a:solidFill>
                <a:latin typeface="B Nazanin"/>
              </a:rPr>
              <a:t>- زیرساخت دیجیتال ایران، تقاضای لازم برای بازارگاه آنلاین را ایجاد کرده است.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3"/>
                </a:solidFill>
                <a:latin typeface="B Nazanin"/>
              </a:rPr>
              <a:t>- پرداخت، احراز هویت و تحویل کالا، سه گلوگاه عملیاتی‌اند که سرعت رشد را تعیین می‌کنند.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3"/>
                </a:solidFill>
                <a:latin typeface="B Nazanin"/>
              </a:rPr>
              <a:t>- دستۀ ورودی باید ارزش کالای بالا، حمل‌ونقل ساده و تقاضای فصلی داشته باشد.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۶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رقبا: کشف را پوشش می‌دهند، معاملۀ اجاره را 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40" cy="4206240"/>
        </p:xfrm>
        <a:graphic>
          <a:graphicData uri="http://schemas.openxmlformats.org/drawingml/2006/table">
            <a:tbl>
              <a:tblPr firstRow="1" rtl="1">
                <a:tableStyleId>{5C22544A-7EE6-4342-B048-85BDC9FD1C3A}</a:tableStyleId>
              </a:tblPr>
              <a:tblGrid>
                <a:gridCol w="3200400"/>
                <a:gridCol w="1737360"/>
                <a:gridCol w="1737360"/>
                <a:gridCol w="1737360"/>
                <a:gridCol w="2423160"/>
              </a:tblGrid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قابلیت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دیوار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شیپور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Turo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رنتینو (هدف)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آگهی تخصصی اجاره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جزئی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جزئی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تقویم دسترس‌پذیری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رزرو آنلاین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پرداخت آنلاین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ودیعه و بیمۀ خسارت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برنامه‌ریزی‌شده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تحویل و ارسال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برنامه‌ریزی‌شده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نظرات و امتیاز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فارسی و راست‌به‌چپ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نه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بله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742432"/>
            <a:ext cx="108356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«بله» یعنی قابلیت در محصول عمومی وجود دارد. این جدول قضاوت کیفیت نیست و باید در فاز دوم با آزمون واقعی محصول به‌روزرسانی شود.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۷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نیازهای بازار: ۳۸ نیاز در چهار دسته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A7F7A"/>
                </a:solidFill>
                <a:latin typeface="B Nazanin"/>
              </a:rPr>
              <a:t>تقاضا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۱۲ نیاز   |   RN-01 تا RN-12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یافتن، مقایسه، رزرو و پرداخت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57432" y="1591056"/>
            <a:ext cx="64008" cy="1481328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B Nazanin"/>
              </a:rPr>
              <a:t>عرضه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۱۰ نیاز   |   PN-01 تا PN-10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ثبت کالا، تقویم، درآمد و خسارت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3872" y="1591056"/>
            <a:ext cx="64008" cy="14813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34290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اعتماد و ایمنی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۸ نیاز   |   TN-01 تا TN-08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احراز هویت، ودیعه، نظرات، شکایت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7432" y="3557016"/>
            <a:ext cx="64008" cy="1481328"/>
          </a:xfrm>
          <a:prstGeom prst="rect">
            <a:avLst/>
          </a:prstGeom>
          <a:solidFill>
            <a:srgbClr val="C4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6B4F"/>
                </a:solidFill>
                <a:latin typeface="B Nazanin"/>
              </a:rPr>
              <a:t>عملیات پلتفرم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۸ نیاز   |   ON-01 تا ON-08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جست‌وجو، چرخۀ سفارش، پنل مدیر، فارسی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3557016"/>
            <a:ext cx="64008" cy="14813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835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B Nazanin"/>
              </a:rPr>
              <a:t>شش نیاز اول سمت تقاضا و چهار نیاز اول سمت عرضه، حداقل محصول قابل استفاده را تعریف می‌کنند. بدون تقویم و رزرو آنلاین، رنتینو فقط یک آگهی‌گاه دیگر است.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بخش ۷-۱ و فصل پایانی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روش نیازسنجی: پنج گام تا یافتۀ قابل استناد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50876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8A12"/>
                </a:solidFill>
                <a:latin typeface="B Nazanin"/>
              </a:rPr>
              <a:t>۱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B Nazanin"/>
              </a:rPr>
              <a:t>طراحی ابزار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۳۶ گویه در ۹ سازه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مقیاس پنج‌گانه لیکرت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50876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8A12"/>
                </a:solidFill>
                <a:latin typeface="B Nazanin"/>
              </a:rPr>
              <a:t>۲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B Nazanin"/>
              </a:rPr>
              <a:t>پایلوت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۱۰ پاسخ‌دهندۀ اول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اصلاح گویه‌های مبهم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0876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8A12"/>
                </a:solidFill>
                <a:latin typeface="B Nazanin"/>
              </a:rPr>
              <a:t>۳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B Nazanin"/>
              </a:rPr>
              <a:t>گردآوری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دو مسیر تقاضا و عرضه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کنترل سهمیه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0876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8A12"/>
                </a:solidFill>
                <a:latin typeface="B Nazanin"/>
              </a:rPr>
              <a:t>۴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B Nazanin"/>
              </a:rPr>
              <a:t>پاک‌سازی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حذف پاسخ ناقص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کدگذاری و ورود داده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508760"/>
            <a:ext cx="196596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8A12"/>
                </a:solidFill>
                <a:latin typeface="B Nazanin"/>
              </a:rPr>
              <a:t>۵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B Nazanin"/>
              </a:rPr>
              <a:t>تحلیل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توصیفی، پایایی، مقایسۀ گروه‌ها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10835640" cy="105156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جای آمار: مشخصات نمونه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حجم نمونه، نرخ پاسخ، ترکیب تقاضا/عرضه، بازۀ گردآوری - پس از پایان مرحلۀ سوم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8356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B Nazanin"/>
              </a:rPr>
              <a:t>قاعدۀ تیم: هیچ گویه‌ای پیش از پایلوت حذف نمی‌شود و هیچ عددی پیش از پاک‌سازی در گزارش یا اسلاید نمی‌آید.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پس از ۳۰ مهر تکمیل می‌شود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یافته‌های نیازسنجی (این اسلاید عمداً خالی است)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81328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نمودار ۱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اولویت دسته‌های کالا برای ورود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81328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نمودار ۲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موانع اصلی اجارۀ آنلاین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81328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C48A12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48A12"/>
                </a:solidFill>
                <a:latin typeface="B Nazanin"/>
              </a:rPr>
              <a:t>نمودار ۳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اهمیت ودیعه، بیمه و احراز هویت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652760" cy="132588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1587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03A2E"/>
                </a:solidFill>
                <a:latin typeface="B Nazanin"/>
              </a:rPr>
              <a:t>تا زمان تهیۀ این نسخه هیچ پاسخی گردآوری نشده است.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این سه ناحیه پس از گردآوری در ۲۹/۰۷ و تحلیل در ۳۰/۰۷ با اعداد واقعی پر می‌شود. هیچ نمودار تزئینی یا عدد ساختگی جای آن‌ها نمی‌نشیند.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مرجع تکمیل: جدول ت-۲ فایل تقسیم وظایف، مراحل ۵ تا 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۸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فرصت‌ها و چالش‌ها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EA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6B4F"/>
                </a:solidFill>
                <a:latin typeface="B Nazanin"/>
              </a:rPr>
              <a:t>فرصت‌های کلیدی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بازار دوطرفه بدون بازیگر کامل در ایران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رابط فارسی و راست‌به‌چپ به‌عنوان مزیت بومی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تقاضای فصلی و کوتاه‌مدت در سفر و رویداد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داده و رتبه‌بندی به‌عنوان دارایی بلندمدت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امکان همکاری با فروشگاه‌های محلی برای عرضه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57432" y="1591056"/>
            <a:ext cx="64008" cy="3904487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7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B03A2E"/>
                </a:solidFill>
                <a:latin typeface="B Nazanin"/>
              </a:rPr>
              <a:t>چالش‌ها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مسئلۀ مرغ و تخم‌مرغ در شروع بازار دوطرفه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اعتماد و مسئولیت خسارت بین دو غریبه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عملیات تحویل و بازگشت کالا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رقابت با آگهی رایگان و بدون کارمزد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42C33"/>
                </a:solidFill>
                <a:latin typeface="B Nazanin"/>
              </a:rPr>
              <a:t>- هزینه و پیچیدگی احراز هویت و ودیعه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9592" y="1591056"/>
            <a:ext cx="64008" cy="3904487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835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راهبرد فاز اول: عمق در یک دسته و یک شهر، نه گستردگی در همه دسته‌ها.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جدول ۸-۳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پنج ریسک اصلی و پاسخ آن‌ها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63040"/>
          <a:ext cx="10835639" cy="3337560"/>
        </p:xfrm>
        <a:graphic>
          <a:graphicData uri="http://schemas.openxmlformats.org/drawingml/2006/table">
            <a:tbl>
              <a:tblPr firstRow="1" rtl="1">
                <a:tableStyleId>{5C22544A-7EE6-4342-B048-85BDC9FD1C3A}</a:tableStyleId>
              </a:tblPr>
              <a:tblGrid>
                <a:gridCol w="963168"/>
                <a:gridCol w="3692143"/>
                <a:gridCol w="882904"/>
                <a:gridCol w="1284224"/>
                <a:gridCol w="4013200"/>
              </a:tblGrid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شناسه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ریسک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امتیاز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سطح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 Nazanin"/>
                        </a:rPr>
                        <a:t>پاسخ کاهنده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R-01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بی‌اعتمادی به تحویل کالا به غریبه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۲۰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بحرانی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احراز هویت، ودیعه، ثبت وضعیت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R-02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عرضۀ ناکافی در شهر اول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۱۶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بحرانی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جذب دستی ۲۰ ارائه‌دهندۀ اولیه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R-09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تأخیر در تحویل بخش‌های مستندات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۱۶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بحرانی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تقویم فشرده، جلسۀ روزانه، مالک مشخص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R-03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خسارت کالا و اختلاف بر مسئولیت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۱۲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بالا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چک‌لیست تحویل و ودیعه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R-04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تقلب در پرداخت یا رزرو جعلی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۱۲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بالا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42C33"/>
                          </a:solidFill>
                          <a:latin typeface="B Nazanin"/>
                        </a:rPr>
                        <a:t>محدودیت رزرو و پایش رفتار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029200"/>
            <a:ext cx="10835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امتیاز = احتمال × اثر، در مقیاس ۱ تا ۵. سه ریسک با امتیاز ۱۵ و بالاتر در جلسۀ هفتگی پروژه بررسی می‌شوند.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B Nazanin"/>
              </a:rPr>
              <a:t>مالک ریسک‌های R-01 و R-03: امیررضا زارع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۹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نیازمندی‌های کارکردی: ۵۸ نیازمندی در ۹ گروه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6304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1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حساب کاربری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6304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2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کشف و جست‌وجو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46304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3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مدیریت کالا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8892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4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رزرو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78892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5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پرداخت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78892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6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چرخۀ سفارش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11480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7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نظرات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11480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8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مدیریت پلتفرم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11480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9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اعلان و پشتیبانی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3212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E8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E6B4F"/>
                </a:solidFill>
                <a:latin typeface="B Nazanin"/>
              </a:rPr>
              <a:t>هر نیازمندی شناسۀ FR و معیار پذیرش دارد و به یک نیاز بازار (RN/PN/TN/ON) ردیابی می‌شود.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۱۰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پشته فناوری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474720" cy="3429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A7F7A"/>
                </a:solidFill>
                <a:latin typeface="B Nazanin"/>
              </a:rPr>
              <a:t>فرانت‌اند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Next.js ۱۶ - App Router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React ۱۹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TypeScript ۵.۹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Tailwind CSS ۴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shadcn/ui روی Radix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React Hook Form + Zod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94592" y="1591056"/>
            <a:ext cx="64008" cy="3172968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474720" cy="3429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B Nazanin"/>
              </a:rPr>
              <a:t>بک‌اند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NestJS ۱۱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Prisma ۶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PostgreSQL ۱۷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JWT و کوکی httpOnly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Swagger در /docs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5551" y="1591056"/>
            <a:ext cx="64008" cy="31729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63040"/>
            <a:ext cx="3474720" cy="3429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8A12"/>
                </a:solidFill>
                <a:latin typeface="B Nazanin"/>
              </a:rPr>
              <a:t>کیفیت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Jest برای آزمون واحد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class-validator برای DTO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ESLint و TypeScript strict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بازبینی RTL با اسکریپت پروژه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1" y="1591056"/>
            <a:ext cx="64008" cy="3172968"/>
          </a:xfrm>
          <a:prstGeom prst="rect">
            <a:avLst/>
          </a:prstGeom>
          <a:solidFill>
            <a:srgbClr val="C4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8356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B Nazanin"/>
              </a:rPr>
              <a:t>اصل انتخاب: هر فناوری باید یا هزینه نگه‌داری را کم کند یا یک نیاز کاربری مشخص را پوشش دهد. هیچ فناوری صرفاً برای تنوع انتخاب نشده است.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جدول ۱۰-۱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معماری در سه لایه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024128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A7F7A"/>
                </a:solidFill>
                <a:latin typeface="B Nazanin"/>
              </a:rPr>
              <a:t>مرورگر کاربر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Next.js ۱۶ با App Router، React ۱۹، Tailwind ۴، shadcn/ui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رندر رابط فارسی و راست‌به‌چپ، تعامل کاربر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1636776"/>
            <a:ext cx="82296" cy="932688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1024128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API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NestJS ۱۱ روی /api/v1، احراز هویت JWT، کنترل نقش، Swagger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منطق کسب‌وکار و مرز اعتماد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3054096"/>
            <a:ext cx="82296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4343400"/>
            <a:ext cx="1024128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48A12"/>
                </a:solidFill>
                <a:latin typeface="B Nazanin"/>
              </a:rPr>
              <a:t>داده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Prisma ۶ و PostgreSQL ۱۷، ۹ مدل داده، تراکنش سریال‌پذیر برای رزرو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ذخیره‌سازی و جلوگیری از تداخل تاریخ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4471416"/>
            <a:ext cx="82296" cy="932688"/>
          </a:xfrm>
          <a:prstGeom prst="rect">
            <a:avLst/>
          </a:prstGeom>
          <a:solidFill>
            <a:srgbClr val="C4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806440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B Nazanin"/>
              </a:rPr>
              <a:t>ارتباط مرورگر با API روی HTTPS و کوکی httpOnly؛ ارتباط API با پایگاه داده از طریق Prisma.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فصل ۱۱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زمان‌بندی: ده روز کاری تا ارائه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48A12"/>
                </a:solidFill>
                <a:latin typeface="B Nazanin"/>
              </a:rPr>
              <a:t>۲۵ تا ۲۹ مهر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پژوهش و نیازها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C33"/>
                </a:solidFill>
                <a:latin typeface="B Nazanin"/>
              </a:rPr>
              <a:t>بازار، رقبا، نیازها، نیازمندی‌ها، فناوری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28248" y="1572768"/>
            <a:ext cx="73152" cy="2066543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48A12"/>
                </a:solidFill>
                <a:latin typeface="B Nazanin"/>
              </a:rPr>
              <a:t>۳۰ مهر تا ۱ آبان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تدوین و یکپارچه‌سازی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C33"/>
                </a:solidFill>
                <a:latin typeface="B Nazanin"/>
              </a:rPr>
              <a:t>تجمیع، تعاریف و مراجع، کنترل کیفیت، نسخۀ آماده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572768"/>
            <a:ext cx="73152" cy="2066543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46304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48A12"/>
                </a:solidFill>
                <a:latin typeface="B Nazanin"/>
              </a:rPr>
              <a:t>۲ تا ۵ آبان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اسلاید، تمرین و ارائه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C33"/>
                </a:solidFill>
                <a:latin typeface="B Nazanin"/>
              </a:rPr>
              <a:t>اسلاید، دو تمرین، بافر، ارائه در ۵ آبان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8" y="1572768"/>
            <a:ext cx="73152" cy="2066543"/>
          </a:xfrm>
          <a:prstGeom prst="rect">
            <a:avLst/>
          </a:prstGeom>
          <a:solidFill>
            <a:srgbClr val="2A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3977639"/>
            <a:ext cx="914400" cy="38404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 Nazanin"/>
              </a:rPr>
              <a:t>M1: نسخۀ آمادۀ بازبینی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977639"/>
            <a:ext cx="914400" cy="38404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 Nazanin"/>
              </a:rPr>
              <a:t>M2: ارائه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17720"/>
            <a:ext cx="108356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B Nazanin"/>
              </a:rPr>
              <a:t>مسیر بحرانی: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آغاز پروژه، مرور بازار و رقبا، نیازهای بازار، تجمیع نیازمندی‌ها، یکپارچه‌سازی، کنترل کیفیت، M1، اسلاید، تمرین، ارائه.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03A2E"/>
                </a:solidFill>
                <a:latin typeface="B Nazanin"/>
              </a:rPr>
              <a:t>هیچ شناوری برای تجمیع نیازمندی‌ها، یکپارچه‌سازی و کنترل کیفیت وجود ندارد. تأخیر در هر یک، تاریخ ارائه را جابه‌جا می‌کند.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جدول ۱۱-۴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ماتریس RACI فاز اول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36" cy="4526280"/>
        </p:xfrm>
        <a:graphic>
          <a:graphicData uri="http://schemas.openxmlformats.org/drawingml/2006/table">
            <a:tbl>
              <a:tblPr firstRow="1" rtl="1">
                <a:tableStyleId>{5C22544A-7EE6-4342-B048-85BDC9FD1C3A}</a:tableStyleId>
              </a:tblPr>
              <a:tblGrid>
                <a:gridCol w="3122935"/>
                <a:gridCol w="1466833"/>
                <a:gridCol w="1088295"/>
                <a:gridCol w="1088295"/>
                <a:gridCol w="1514150"/>
                <a:gridCol w="1419516"/>
                <a:gridCol w="1135612"/>
              </a:tblGrid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فعالیت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محمد نعیم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معین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سجاد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امیرحسین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امیررضا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B Nazanin"/>
                        </a:rPr>
                        <a:t>ارشیا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تثبیت دامنه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بررسی بازار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تحلیل رقبا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نیازهای بازار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جمع‌بندی اهداف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فرصت‌ها و ریسک‌ها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نیازمندی‌های کارکردی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تکنولوژی‌ها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WBS و زمان‌بندی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RACI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تعاریف و سرنام‌ها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مراجع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یکپارچه‌سازی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کنترل کیفیت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266251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اسلاید ارائه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6264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ارائه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A/R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035040"/>
            <a:ext cx="10835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B Nazanin"/>
              </a:rPr>
              <a:t>R = مجری، A = پاسخ‌گوی نهایی، C = مشورت‌شده، I = مطلع.  نام کامل اعضا در فصل ۱ و جدول ۱۱-۴ آمده است.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فایل تقسیم وظایف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تقسیم کار گردآوری داده و کارهای باقی‌مانده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63040"/>
          <a:ext cx="5257797" cy="3794760"/>
        </p:xfrm>
        <a:graphic>
          <a:graphicData uri="http://schemas.openxmlformats.org/drawingml/2006/table">
            <a:tbl>
              <a:tblPr firstRow="1" rtl="1">
                <a:tableStyleId>{5C22544A-7EE6-4342-B048-85BDC9FD1C3A}</a:tableStyleId>
              </a:tblPr>
              <a:tblGrid>
                <a:gridCol w="2248162"/>
                <a:gridCol w="1087820"/>
                <a:gridCol w="1087820"/>
                <a:gridCol w="833995"/>
              </a:tblGrid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 Nazanin"/>
                        </a:rPr>
                        <a:t>مرحله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 Nazanin"/>
                        </a:rPr>
                        <a:t>مسئول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 Nazanin"/>
                        </a:rPr>
                        <a:t>همکار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 Nazanin"/>
                        </a:rPr>
                        <a:t>بازه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تثبیت پرسش‌نامه و فرم برخط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معین نوری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امیرحسین ترک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۲۶/۰۷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پایلوت و اصلاح گویه‌ها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ارشیا احمدی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امیررضا زارع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۲۶ تا ۲۷/۰۷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گردآوری سمت تقاضا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محمد سجاد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ارشیا احمدی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۲۷ تا ۲۹/۰۷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گردآوری سمت عرضه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امیررضا زارع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امیرحسین ترک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۲۷ تا ۲۹/۰۷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پیگیری پاسخ‌ها و کنترل سهمیه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معین نوری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محمد نعیم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۲۷ تا ۲۹/۰۷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پاک‌سازی و کدگذاری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محمد سجاد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معین نوری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۲۹ تا ۳۰/۰۷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تحلیل آماری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معین نوری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محمد سجاد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C33"/>
                          </a:solidFill>
                          <a:latin typeface="B Nazanin"/>
                        </a:rPr>
                        <a:t>۳۰/۰۷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1463040"/>
            <a:ext cx="5349240" cy="379476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B03A2E"/>
                </a:solidFill>
                <a:latin typeface="B Nazanin"/>
              </a:rPr>
              <a:t>کارهای باقی‌مانده تا ارائه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نام استاد در صفحۀ عنوان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به‌روزرسانی فهرست مطالب و شماره صفحه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بازبینی چشمی جدول‌های عریض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نصب فونت B Nazanin روی رایانۀ ارائه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اجرای پرسش‌نامه و تکمیل جدول‌ها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- خروجی PDF، تمرین نهایی و ارائه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1" y="1591056"/>
            <a:ext cx="64008" cy="35387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440680"/>
            <a:ext cx="10835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B Nazanin"/>
              </a:rPr>
              <a:t>هر کار یک مسئول اصلی دارد. کارهای همکار بدون هماهنگی با مسئول اصلی شروع نمی‌شود.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56032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7F7A"/>
                </a:solidFill>
                <a:latin typeface="B Nazanin"/>
              </a:rPr>
              <a:t>پایان ارائه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B Nazanin"/>
              </a:rPr>
              <a:t>جمع‌بندی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1672" cy="32004"/>
          </a:xfrm>
          <a:prstGeom prst="rect">
            <a:avLst/>
          </a:prstGeom>
          <a:solidFill>
            <a:srgbClr val="D5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19088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B Nazanin"/>
              </a:rPr>
              <a:t>رنتینو - گزارش فاز اول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44752"/>
            <a:ext cx="758952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مسئله، ریسک اعتماد است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بازار عرضه و تقاضا دارد؛ چیزی که ندارد معاملۀ ایمن و کامل است.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7072" y="1609344"/>
            <a:ext cx="548640" cy="72237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B Nazanin"/>
              </a:rPr>
              <a:t>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79192"/>
            <a:ext cx="758952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راه‌حل، یک چرخۀ کامل است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تقویم، رزرو، پرداخت، ودیعه و ثبت وضعیت، یک زنجیره‌اند و نه قابلیت‌های مستقل.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7072" y="2843784"/>
            <a:ext cx="548640" cy="72237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B Nazanin"/>
              </a:rPr>
              <a:t>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13632"/>
            <a:ext cx="758952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B Nazanin"/>
              </a:rPr>
              <a:t>فاز اول، مبنای تصمیم است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C33"/>
                </a:solidFill>
                <a:latin typeface="B Nazanin"/>
              </a:rPr>
              <a:t>سند، نیازها و برنامه را تثبیت کرد؛ ادعای تکمیل محصول نمی‌کند.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4078224"/>
            <a:ext cx="548640" cy="72237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B Nazanin"/>
              </a:rPr>
              <a:t>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38928"/>
            <a:ext cx="7406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B"/>
                </a:solidFill>
                <a:latin typeface="B Nazanin"/>
              </a:rPr>
              <a:t>ممنون از توجه شما - تیم رنتینو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559552"/>
            <a:ext cx="7406640" cy="71323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 Nazanin"/>
              </a:rPr>
              <a:t>پرسش و پاسخ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